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b85b25a283145fa" /><Relationship Type="http://schemas.openxmlformats.org/officeDocument/2006/relationships/extended-properties" Target="/docProps/app.xml" Id="Rdbaf5700466843af" /><Relationship Type="http://schemas.openxmlformats.org/officeDocument/2006/relationships/officeDocument" Target="/ppt/presentation.xml" Id="R0def628147954b4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d12b70357824a06"/>
  </p:sldMasterIdLst>
  <p:notesMasterIdLst>
    <p:notesMasterId xmlns:r="http://schemas.openxmlformats.org/officeDocument/2006/relationships" r:id="R99547c0cef314b37"/>
  </p:notesMasterIdLst>
  <p:sldIdLst>
    <p:sldId xmlns:r="http://schemas.openxmlformats.org/officeDocument/2006/relationships" id="256" r:id="R059460261bad4177"/>
    <p:sldId xmlns:r="http://schemas.openxmlformats.org/officeDocument/2006/relationships" id="257" r:id="R264648383f6b446b"/>
    <p:sldId xmlns:r="http://schemas.openxmlformats.org/officeDocument/2006/relationships" id="258" r:id="R3f4756749347484d"/>
    <p:sldId xmlns:r="http://schemas.openxmlformats.org/officeDocument/2006/relationships" id="259" r:id="Rdec7d106c9f94754"/>
    <p:sldId xmlns:r="http://schemas.openxmlformats.org/officeDocument/2006/relationships" id="260" r:id="Ra2213017cb6d4d32"/>
    <p:sldId xmlns:r="http://schemas.openxmlformats.org/officeDocument/2006/relationships" id="261" r:id="R9b30f541ded84ce2"/>
    <p:sldId xmlns:r="http://schemas.openxmlformats.org/officeDocument/2006/relationships" id="262" r:id="R05127f5c413545e8"/>
    <p:sldId xmlns:r="http://schemas.openxmlformats.org/officeDocument/2006/relationships" id="263" r:id="R8034d8042be545ba"/>
    <p:sldId xmlns:r="http://schemas.openxmlformats.org/officeDocument/2006/relationships" id="264" r:id="R3c624ceae4354e25"/>
    <p:sldId xmlns:r="http://schemas.openxmlformats.org/officeDocument/2006/relationships" id="265" r:id="R3202a42ec26e420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12b70357824a06" /><Relationship Type="http://schemas.openxmlformats.org/officeDocument/2006/relationships/theme" Target="/ppt/theme/theme1.xml" Id="R8c4000dc4aa74c05" /><Relationship Type="http://schemas.openxmlformats.org/officeDocument/2006/relationships/notesMaster" Target="/ppt/notesMasters/notesMaster1.xml" Id="R99547c0cef314b37" /><Relationship Type="http://schemas.openxmlformats.org/officeDocument/2006/relationships/presProps" Target="/ppt/presProps.xml" Id="Rcd3ecdd1205d46b2" /><Relationship Type="http://schemas.openxmlformats.org/officeDocument/2006/relationships/viewProps" Target="/ppt/viewProps.xml" Id="R4df4cc5c92f94a45" /><Relationship Type="http://schemas.openxmlformats.org/officeDocument/2006/relationships/tableStyles" Target="/ppt/tableStyles.xml" Id="R842bf12483964c2d" /><Relationship Type="http://schemas.openxmlformats.org/officeDocument/2006/relationships/slide" Target="/ppt/slides/slide1.xml" Id="R059460261bad4177" /><Relationship Type="http://schemas.openxmlformats.org/officeDocument/2006/relationships/slide" Target="/ppt/slides/slide2.xml" Id="R264648383f6b446b" /><Relationship Type="http://schemas.openxmlformats.org/officeDocument/2006/relationships/slide" Target="/ppt/slides/slide3.xml" Id="R3f4756749347484d" /><Relationship Type="http://schemas.openxmlformats.org/officeDocument/2006/relationships/slide" Target="/ppt/slides/slide4.xml" Id="Rdec7d106c9f94754" /><Relationship Type="http://schemas.openxmlformats.org/officeDocument/2006/relationships/slide" Target="/ppt/slides/slide5.xml" Id="Ra2213017cb6d4d32" /><Relationship Type="http://schemas.openxmlformats.org/officeDocument/2006/relationships/slide" Target="/ppt/slides/slide6.xml" Id="R9b30f541ded84ce2" /><Relationship Type="http://schemas.openxmlformats.org/officeDocument/2006/relationships/slide" Target="/ppt/slides/slide7.xml" Id="R05127f5c413545e8" /><Relationship Type="http://schemas.openxmlformats.org/officeDocument/2006/relationships/slide" Target="/ppt/slides/slide8.xml" Id="R8034d8042be545ba" /><Relationship Type="http://schemas.openxmlformats.org/officeDocument/2006/relationships/slide" Target="/ppt/slides/slide9.xml" Id="R3c624ceae4354e25" /><Relationship Type="http://schemas.openxmlformats.org/officeDocument/2006/relationships/slide" Target="/ppt/slides/slide10.xml" Id="R3202a42ec26e420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0819681528764f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4016629c6e64cfe" /><Relationship Type="http://schemas.openxmlformats.org/officeDocument/2006/relationships/notesMaster" Target="/ppt/notesMasters/notesMaster1.xml" Id="R18176bfbda6f41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443095ef7154de7" /><Relationship Type="http://schemas.openxmlformats.org/officeDocument/2006/relationships/notesMaster" Target="/ppt/notesMasters/notesMaster1.xml" Id="R45bc42f1e72042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b1a25f0a3974193" /><Relationship Type="http://schemas.openxmlformats.org/officeDocument/2006/relationships/notesMaster" Target="/ppt/notesMasters/notesMaster1.xml" Id="Ra28695742fa2486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dfae123ab94001" /><Relationship Type="http://schemas.openxmlformats.org/officeDocument/2006/relationships/notesMaster" Target="/ppt/notesMasters/notesMaster1.xml" Id="Re65b780a315f44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dece5db0b442d4" /><Relationship Type="http://schemas.openxmlformats.org/officeDocument/2006/relationships/notesMaster" Target="/ppt/notesMasters/notesMaster1.xml" Id="R083c1d6a04d6469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edb2a3b7194507" /><Relationship Type="http://schemas.openxmlformats.org/officeDocument/2006/relationships/notesMaster" Target="/ppt/notesMasters/notesMaster1.xml" Id="R81f67b873b8841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03ebbfe40744a0d" /><Relationship Type="http://schemas.openxmlformats.org/officeDocument/2006/relationships/notesMaster" Target="/ppt/notesMasters/notesMaster1.xml" Id="R50329e9f24fa4b4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cd4b41be1bd4797" /><Relationship Type="http://schemas.openxmlformats.org/officeDocument/2006/relationships/notesMaster" Target="/ppt/notesMasters/notesMaster1.xml" Id="R8683db88a68c45c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d4284c018dd4b55" /><Relationship Type="http://schemas.openxmlformats.org/officeDocument/2006/relationships/notesMaster" Target="/ppt/notesMasters/notesMaster1.xml" Id="R06b85c7f78244f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bf72f19d0074f83" /><Relationship Type="http://schemas.openxmlformats.org/officeDocument/2006/relationships/notesMaster" Target="/ppt/notesMasters/notesMaster1.xml" Id="R22cd05efe04d4f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263626e6df462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b34fe73259fe4631" /><Relationship Type="http://schemas.openxmlformats.org/officeDocument/2006/relationships/slideLayout" Target="/ppt/slideLayouts/slideLayout2.xml" Id="R2fcc20c9faa041a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cc20c9faa041a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aaad86f09740d1" /><Relationship Type="http://schemas.openxmlformats.org/officeDocument/2006/relationships/notesSlide" Target="/ppt/notesSlides/notesSlide1.xml" Id="R9a4bc0388150430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8701e289a7a4516" /><Relationship Type="http://schemas.openxmlformats.org/officeDocument/2006/relationships/notesSlide" Target="/ppt/notesSlides/notesSlide2.xml" Id="R449a7f49e4124f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5e577bbd1d34bc4" /><Relationship Type="http://schemas.openxmlformats.org/officeDocument/2006/relationships/notesSlide" Target="/ppt/notesSlides/notesSlide3.xml" Id="R39d832fead034eb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0b3f88a19fb42ca" /><Relationship Type="http://schemas.openxmlformats.org/officeDocument/2006/relationships/notesSlide" Target="/ppt/notesSlides/notesSlide4.xml" Id="Ra5fa761aeac543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1f1af998234387" /><Relationship Type="http://schemas.openxmlformats.org/officeDocument/2006/relationships/notesSlide" Target="/ppt/notesSlides/notesSlide5.xml" Id="R1214e8088e294a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1293ed14ee4966" /><Relationship Type="http://schemas.openxmlformats.org/officeDocument/2006/relationships/notesSlide" Target="/ppt/notesSlides/notesSlide6.xml" Id="R6f03759beb6b4f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b8b7fd3620b4a24" /><Relationship Type="http://schemas.openxmlformats.org/officeDocument/2006/relationships/notesSlide" Target="/ppt/notesSlides/notesSlide7.xml" Id="R3aa5ca5ae685455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d7a868a54934ba0" /><Relationship Type="http://schemas.openxmlformats.org/officeDocument/2006/relationships/notesSlide" Target="/ppt/notesSlides/notesSlide8.xml" Id="Rccc28e91897c41e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f8bb9668f640f7" /><Relationship Type="http://schemas.openxmlformats.org/officeDocument/2006/relationships/notesSlide" Target="/ppt/notesSlides/notesSlide9.xml" Id="R1969caa94fc049a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bc6fe82a5284d3d" /><Relationship Type="http://schemas.openxmlformats.org/officeDocument/2006/relationships/notesSlide" Target="/ppt/notesSlides/notesSlide10.xml" Id="R8784795ebe094fb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4931BC3-49F7-4087-ABDC-6FFCDCC8D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2201F6-1A9F-4B9C-A244-8916498B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E"/>
          </a:solidFill>
          <a:ln xmlns:a="http://schemas.openxmlformats.org/drawingml/2006/main" w="0">
            <a:solidFill>
              <a:srgbClr val="1F5E9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7D640-3838-419A-A1C4-1AE10F5C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ИНФОРМАЦИОННАЯ БЕЗОПАСНОСТЬ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A35511-11A8-48A9-AF34-9778C54F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Сравнение продуктов защиты для малого интернет-магазина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3ED625-1363-4800-ADDA-DC61CE22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8199D-8800-4CC2-87B5-3F1376F96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924050"/>
            <a:ext cx="7239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Задача: выбрать понятный набор средств защиты для ООО «ТехноМаркет», не перегружая малый бизнес сложной инфраструктурой.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EFEBF1-BC5F-4161-ABAD-77AB33F1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24150"/>
            <a:ext cx="7239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Допущение: 5-10 рабочих мест, сайт на хостинге, отдельного SOC нет.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DD9665-971B-41ED-98FF-A61922B23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762000"/>
            <a:ext cx="2286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0">
            <a:solidFill>
              <a:srgbClr val="1118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BECFA6-4F06-489C-81AD-6046A266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1200150"/>
            <a:ext cx="1790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активы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угрозы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меры</a:t>
            </a:r>
          </a:p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выбор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AD0DC8-4977-4E62-BEF1-09392DF5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7EE036-948D-4982-BFEF-6CE7AAF6C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814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продукта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DEFE9-FEF0-4823-81D3-450F2045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5433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87A5B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87A5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4A6AC8-B197-4500-BE7C-9FA93000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9814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критерия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AE32E1-6947-4AB4-BF55-FB5F8B431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5433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8871F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B8871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5A7E85-7237-42F4-8A2D-43AF7E248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981450"/>
            <a:ext cx="1809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рекомендация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480DBE-9D58-46E0-8ABB-AC597407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0065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• Kaspersky Cloud / Next EDR Foundations — защита рабочих мест и устройств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9502BDC-ABAB-41A3-B55F-6A2D2E93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0070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• Dr.Web Enterprise Security Suite — централизованная антивирусная сеть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6DA451-EFC0-4065-BED0-8BB00CDD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8096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• UserGate NGFW — контроль периметра, трафика и доступа в интернет</a:t>
            </a:r>
          </a:p>
        </p:txBody>
      </p:sp>
    </p:spTree>
    <p:extLst>
      <p:ext uri="{BB962C8B-B14F-4D97-AF65-F5344CB8AC3E}">
        <p14:creationId xmlns:p14="http://schemas.microsoft.com/office/powerpoint/2010/main" val="169962638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EF5450F-2B21-445E-A9F6-269E6711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D6AB06-2265-4A0A-A227-B9AD2905A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E"/>
          </a:solidFill>
          <a:ln xmlns:a="http://schemas.openxmlformats.org/drawingml/2006/main" w="0">
            <a:solidFill>
              <a:srgbClr val="1F5E9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56CAA-48F0-4732-96F8-578CAB60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КРИТЕРИИ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65A625-CDBC-4D4D-8FA4-2275B8D6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Сравнение строится не по рекламе, а по задачам защиты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4A17DE-00B4-41A8-A61A-AE183DFFB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43BF9-5D32-4F8C-978D-D2F09A76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648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6"/>
          </a:solidFill>
          <a:ln xmlns:a="http://schemas.openxmlformats.org/drawingml/2006/main" w="9525">
            <a:solidFill>
              <a:srgbClr val="1F5E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7A0D1E-3E43-44F3-A7B8-5875F9C8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09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Рабочие места · 35%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90C28-5A34-4E13-B536-46C073A8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417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Насколько продукт закрывает ноутбуки, серверы и учетные записи сотрудников.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775D1A-E013-430B-B8CD-78E4187F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76450"/>
            <a:ext cx="4648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7"/>
          </a:solidFill>
          <a:ln xmlns:a="http://schemas.openxmlformats.org/drawingml/2006/main" w="9525">
            <a:solidFill>
              <a:srgbClr val="187A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48514-EC9D-4FDE-AD2C-7A6D6798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098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7A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7A5B"/>
                </a:solidFill>
                <a:latin typeface="Aptos"/>
                <a:ea typeface="Aptos"/>
                <a:cs typeface="Aptos"/>
              </a:rPr>
              <a:t>Управление · 25%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C4305F-AA52-44A6-AD4C-E2E2F57C3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417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Насколько легко администрировать продукт небольшой компании без отдельного SOC.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2FED72-2D86-4009-B424-91FFAD679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67150"/>
            <a:ext cx="4648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C3"/>
          </a:solidFill>
          <a:ln xmlns:a="http://schemas.openxmlformats.org/drawingml/2006/main" w="9525">
            <a:solidFill>
              <a:srgbClr val="B8871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5F228-4667-4DF0-A72D-D125430F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005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87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8871F"/>
                </a:solidFill>
                <a:latin typeface="Aptos"/>
                <a:ea typeface="Aptos"/>
                <a:cs typeface="Aptos"/>
              </a:rPr>
              <a:t>Риски из КР · 25%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19605A-7871-4358-9FBF-5C5BEF1C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381500"/>
            <a:ext cx="417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Фишинг, вирусы, утечка данных, недоступность сервисов и ошибки сотрудников.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AB139-FBDB-4CEB-A397-96B97326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867150"/>
            <a:ext cx="4648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8D7"/>
          </a:solidFill>
          <a:ln xmlns:a="http://schemas.openxmlformats.org/drawingml/2006/main" w="9525">
            <a:solidFill>
              <a:srgbClr val="B94A4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EC3CE4-3C7F-49E5-909D-EECE08CE7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09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Стоимость и сложность · 15%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A2C361-2C0A-4D90-AE85-25451DC3B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41719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Оценивается не точная цена, а ресурсы администратора и сложность внедрения.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003A92-D3F3-4B18-99C5-71B51DE4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53100"/>
            <a:ext cx="981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Сравниваются решения для стартового набора защиты, а не прямые аналоги одного класса.</a:t>
            </a:r>
          </a:p>
        </p:txBody>
      </p:sp>
    </p:spTree>
    <p:extLst>
      <p:ext uri="{BB962C8B-B14F-4D97-AF65-F5344CB8AC3E}">
        <p14:creationId xmlns:p14="http://schemas.microsoft.com/office/powerpoint/2010/main" val="85776613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62B375-53D7-4C8A-8863-D2F6AD0DB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ECC95-0413-4D07-8AD3-A5F836ED0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E"/>
          </a:solidFill>
          <a:ln xmlns:a="http://schemas.openxmlformats.org/drawingml/2006/main" w="0">
            <a:solidFill>
              <a:srgbClr val="1F5E9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44A170-997D-4185-ADE2-133F10D5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ПРОДУКТЫ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A65E50-982F-4BC2-BD45-5897DF82D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Три решения закрывают разные слои защиты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48E70C-19A2-4A9C-9859-42EC5EA29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73DBB8-DEA9-4D66-A230-31050E2E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076450"/>
            <a:ext cx="32575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6"/>
          </a:solidFill>
          <a:ln xmlns:a="http://schemas.openxmlformats.org/drawingml/2006/main" w="9525">
            <a:solidFill>
              <a:srgbClr val="1F5E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5126A-B78B-47D0-B072-650466E0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479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Endpoint / Cloud EPP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DD6E74-4906-47D7-BACF-497737C3F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2890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Kaspersky Cloud / Next EDR Foundations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D64B20-C737-47CD-B363-BA7DD7079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62350"/>
            <a:ext cx="2781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Облачная консоль, защита рабочих станций, мобильных устройств и файловых серверов. В актуальной линейке SMB эту роль закрывает Kaspersky Next EDR Foundations.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4ED4A-A12E-4BA2-950C-F6BAD17A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76450"/>
            <a:ext cx="32575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7"/>
          </a:solidFill>
          <a:ln xmlns:a="http://schemas.openxmlformats.org/drawingml/2006/main" w="9525">
            <a:solidFill>
              <a:srgbClr val="187A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29752F-1576-4FD7-BCA8-026ABF151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479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7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7A5B"/>
                </a:solidFill>
                <a:latin typeface="Aptos"/>
                <a:ea typeface="Aptos"/>
                <a:cs typeface="Aptos"/>
              </a:rPr>
              <a:t>Endpoint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23EA92-E7F2-4ABC-AFCD-E32BAE1E9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62890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Dr.Web Enterprise Security Suite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12CE1-EE32-4E5B-AE51-2E7A281BC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562350"/>
            <a:ext cx="2781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Центр управления антивирусной сетью, администрирование рабочих станций и серверов, простая логика для классической антивирусной защиты.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2769FF-66DE-49DB-9D7B-AA87076C0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76450"/>
            <a:ext cx="32575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C3"/>
          </a:solidFill>
          <a:ln xmlns:a="http://schemas.openxmlformats.org/drawingml/2006/main" w="9525">
            <a:solidFill>
              <a:srgbClr val="B887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4BD62-9B9A-45D5-9D65-B59DB1A28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47900"/>
            <a:ext cx="2667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8871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871F"/>
                </a:solidFill>
                <a:latin typeface="Aptos"/>
                <a:ea typeface="Aptos"/>
                <a:cs typeface="Aptos"/>
              </a:rPr>
              <a:t>Network / Perimeter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FAD71D-B183-442D-AF19-1B1F503D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28900"/>
            <a:ext cx="28003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UserGate NGFW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113C56-0C26-4BF3-A238-52D39E3F1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62350"/>
            <a:ext cx="27813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Межсетевой экран нового поколения: контроль приложений, IPS, защита от вредоносного трафика, VPN и управление доступом к веб-ресурсам.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30E683F-CFD4-4FB7-A999-F641F698A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9334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Важно: это не прямые аналоги. Они сравниваются как кандидаты для разных уровней защиты одной организации.</a:t>
            </a:r>
          </a:p>
        </p:txBody>
      </p:sp>
    </p:spTree>
    <p:extLst>
      <p:ext uri="{BB962C8B-B14F-4D97-AF65-F5344CB8AC3E}">
        <p14:creationId xmlns:p14="http://schemas.microsoft.com/office/powerpoint/2010/main" val="140549889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EADA04E-E489-4182-8A0D-C4A6C2EA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929E79-F1AB-47AF-9A2A-06082034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E"/>
          </a:solidFill>
          <a:ln xmlns:a="http://schemas.openxmlformats.org/drawingml/2006/main" w="0">
            <a:solidFill>
              <a:srgbClr val="1F5E9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9A5BCE-F127-4821-BE1C-642FB3496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МАТРИЦА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6A59E-159C-4E6E-B087-063D1D708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Для «ТехноМаркета» сначала важнее закрыть рабочие места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6A8C42-E44F-480F-A58C-C5AEEF0D5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6A13D1-7FC9-4273-8D47-9EC3FD543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66900"/>
            <a:ext cx="2476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A1C31-0E81-4FC5-83BE-1EFB15E29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23622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Критерий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7E13BB-CC5D-47CD-9BFA-2C1232BC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8669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97CC48-1A69-4504-9389-0EF8F4BE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9431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Kaspersky Cloud / Next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E35B1F-55E0-469E-9AC0-538905224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8669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740ADF-949F-44CC-BF68-1C3C5967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9431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Dr.Web 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B52F0-AEF0-4319-9C13-802F097F2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866900"/>
            <a:ext cx="2190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36641-8905-4DEB-91E7-0762765CF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1943100"/>
            <a:ext cx="2076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UserGate NGFW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66AC00-4978-4020-ABAD-C86A9AB90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18669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9E89BB-618D-4EA4-BEE0-0D46C8868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1943100"/>
            <a:ext cx="1504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Вес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6F4067-7EAF-4420-8D97-E5C760380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863EAB-8FEB-46D5-A21C-DBD006329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76500"/>
            <a:ext cx="2362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Рабочие места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51D10B-EBAB-4ACE-9A35-D177AA123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812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AC4FA-5B3A-4734-B987-F2045333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765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06CADA-0542-4F07-AC59-524EF0DC4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2EF981-0232-4D27-AD56-3799D26A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4765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7E16ED-104A-4DCB-A46E-A3E5FC2A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6A6746-9EAB-4A10-9F06-CA318D0A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765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B31035-7FCB-4967-90EC-613EC88C1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3812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68B9FA-7815-4A5B-B4B3-8193D59FB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47650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35%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F20A27-5437-4062-8767-5656E9C5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63D373-6410-45AA-AF6F-11E3E9AF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05150"/>
            <a:ext cx="2362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Простота управления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C9D46CA-67C3-4AEA-A815-F60BB1317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099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EB2F1B-CF73-45B6-AC05-758325E4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051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810342-81D1-43A8-B433-3F4AAEB4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099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F6F126-7A75-4B71-93F2-36693E20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051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34EFB22-EF8B-4FF7-8DFF-54AD5AF0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099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5063400-70E0-490D-B69E-60D67770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1051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8F6973-0591-4BA9-99DA-42B2957D2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0990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0FB9261-557F-40C2-A360-6E5FC4AE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10515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C67CC2A-0906-4F86-9CD2-10457C67E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3855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D8020F5-C9C2-4282-8409-1B5E12D83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2362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Риски из КР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621C4F-F451-472E-AAF3-D3A1B6AD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385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ACA154-B13E-4EFD-9A95-7E3FCAB2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7338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99A405D-7EB2-4EE7-AB8A-518C7A37B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385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BA715C-CD94-40D0-ACBB-2D9D2D64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338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D3E88FD-AC5B-4230-89DD-EEE79557D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385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C8B5195-2652-4B0C-B620-EE957156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7338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CB595D-8A49-47F9-8ADF-FC457CDCE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385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124443A-249D-4908-81A6-6D220877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373380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25%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7DF95B-18E3-46FE-9AC3-3A6486C82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EF6E40C-9994-490E-A4CC-FAB63BA3D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62450"/>
            <a:ext cx="2362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Стоимость / сложность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DD6B1CE-C029-436A-A3DF-98D765B5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672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33B64ED-8C0F-4DA2-8ADA-616CE01F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3624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7147444-77D1-40C4-9193-71D133D7D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2672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45734B7-CFCF-4873-856C-1D1FF85C7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3624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BF958EC-852D-4AA9-B788-3BF50DD71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6720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E1EA7EA-CF09-4D93-8A54-C5633FA89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36245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FAB4F94-EEDD-4674-A1C3-DC1334D33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26720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D0F8BD6-459D-49D4-A009-0A307858B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36245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15%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26DA6F-0D40-4530-909F-C68BF0CED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95850"/>
            <a:ext cx="247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476A372-AD3C-48A6-88BA-0BC5619C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91100"/>
            <a:ext cx="23622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Итог для старта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DC64412-07BA-4E86-924F-6A02BCA3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958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F788AE1-DB55-4369-B140-04D3FADB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9911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первый выбор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8A070B4-9F32-4B77-93E3-1CC6C3996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8958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6658074-2955-4454-9310-AC7B598A1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9911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альтернатива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FAAC945-1790-4B81-B0AD-C3BDB04B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95850"/>
            <a:ext cx="2190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C782CF0-C461-4171-8CFB-7FC60A36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991100"/>
            <a:ext cx="2076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второй этап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8DBCCD0-BDEE-4EE8-BDD4-B296B3E3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8958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14F915B-3A3F-4646-865D-AC810D88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499110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9F7183F-F6B5-41FD-AF6E-F1542622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76900"/>
            <a:ext cx="9715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Взвешенный итог: Kaspersky 4,6; Dr.Web 3,95; UserGate 2,5. Риски из КР получают равный общий балл, но закрывают разные части риска.</a:t>
            </a:r>
          </a:p>
        </p:txBody>
      </p:sp>
    </p:spTree>
    <p:extLst>
      <p:ext uri="{BB962C8B-B14F-4D97-AF65-F5344CB8AC3E}">
        <p14:creationId xmlns:p14="http://schemas.microsoft.com/office/powerpoint/2010/main" val="205676216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F85353-7C89-4B49-951F-6D143B37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C9EFF9-6F42-49AF-9E91-5680CF47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E"/>
          </a:solidFill>
          <a:ln xmlns:a="http://schemas.openxmlformats.org/drawingml/2006/main" w="0">
            <a:solidFill>
              <a:srgbClr val="1F5E9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846136-BECC-4DC4-8833-D75DD66B2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СЦЕНАРИИ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CC4E74-082D-4507-9AE1-C1EE3B10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Каждый продукт полезен, но в разных точках инфраструктуры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942410-9D7C-473F-B0B4-3B1A41754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EE656-DB68-4B4A-93B3-A9015B86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152650"/>
            <a:ext cx="727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E"/>
          </a:solidFill>
          <a:ln xmlns:a="http://schemas.openxmlformats.org/drawingml/2006/main" w="0">
            <a:solidFill>
              <a:srgbClr val="1F5E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FDD914-866E-46F0-9E0C-374D54DD8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288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E"/>
          </a:solidFill>
          <a:ln xmlns:a="http://schemas.openxmlformats.org/drawingml/2006/main" w="0">
            <a:solidFill>
              <a:srgbClr val="1F5E9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4BF907-0257-4186-888E-671A0D7A6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8669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Сотрудник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EA9001-B728-410B-9872-B6E419DA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8669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ноутбук, почта, документы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0A751-D303-45EA-9A88-994522EA9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E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F40F41-140E-4E37-9928-B674B478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764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Kaspersky / Dr.Web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494D4-BACA-4761-84EF-0719C3450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028950"/>
            <a:ext cx="727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5B"/>
          </a:solidFill>
          <a:ln xmlns:a="http://schemas.openxmlformats.org/drawingml/2006/main" w="0">
            <a:solidFill>
              <a:srgbClr val="187A5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1268C1-1B46-4F33-BFB5-4FDD9F33C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051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A5B"/>
          </a:solidFill>
          <a:ln xmlns:a="http://schemas.openxmlformats.org/drawingml/2006/main" w="0">
            <a:solidFill>
              <a:srgbClr val="187A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FAC1CD-8925-465D-AEB0-0B3E45664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87A5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87A5B"/>
                </a:solidFill>
                <a:latin typeface="Aptos"/>
                <a:ea typeface="Aptos"/>
                <a:cs typeface="Aptos"/>
              </a:rPr>
              <a:t>CRM и заказы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FDC08-191A-40DF-8FA6-612F2A38E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432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доступы, база клиентов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92363F-CA72-4F90-99E9-D58D2786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860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87A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6C6FA2-DD57-4896-BC5D-D279BB0AA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7527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Endpoint + права доступа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FB4F4-7B39-4BD8-B117-971A141AC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05250"/>
            <a:ext cx="727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1F"/>
          </a:solidFill>
          <a:ln xmlns:a="http://schemas.openxmlformats.org/drawingml/2006/main" w="0">
            <a:solidFill>
              <a:srgbClr val="B8871F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FF09D7-9639-4268-84FB-8FCA5B288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814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871F"/>
          </a:solidFill>
          <a:ln xmlns:a="http://schemas.openxmlformats.org/drawingml/2006/main" w="0">
            <a:solidFill>
              <a:srgbClr val="B8871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262A1-F27F-485F-A258-E6641B984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95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8871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8871F"/>
                </a:solidFill>
                <a:latin typeface="Aptos"/>
                <a:ea typeface="Aptos"/>
                <a:cs typeface="Aptos"/>
              </a:rPr>
              <a:t>Интернет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29F059D-44FD-46CB-99E6-7CC40D384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6195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сайты, фишинг, трафик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440710-87D2-4E2C-B30E-01321BDB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5623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871F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1A4300-8D96-4612-825A-7FEB06E14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290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UserGate NGFW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C446DB-F61D-4FDF-B78B-A220E411A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781550"/>
            <a:ext cx="727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B94A4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1E6C78-21C4-4A2B-9755-ECDA27CF9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577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4A48"/>
          </a:solidFill>
          <a:ln xmlns:a="http://schemas.openxmlformats.org/drawingml/2006/main" w="0">
            <a:solidFill>
              <a:srgbClr val="B94A4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20B76B-8313-4C83-8AAD-0E6199AB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95800"/>
            <a:ext cx="1809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B94A48"/>
                </a:solidFill>
                <a:latin typeface="Aptos"/>
                <a:ea typeface="Aptos"/>
                <a:cs typeface="Aptos"/>
              </a:rPr>
              <a:t>Инцидент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F02A3C-F73D-4144-ACB0-99ADFA8E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95800"/>
            <a:ext cx="2857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заражение или сбой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873985-6D0E-4D48-A455-2FC598734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438650"/>
            <a:ext cx="3143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4A4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E815324-69E2-493F-AE3F-04A86B44D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505325"/>
            <a:ext cx="2857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резервные копии + реагирование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829626E-F8A1-48AF-91A4-F1BDFF0BF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62600"/>
            <a:ext cx="9620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Связь с КР: активы защиты — сайт, CRM/заказы, база клиентов, почта и рабочие ПК. Сайт дополнительно закрывается CMS-обновлениями, HTTPS и бэкапами БД.</a:t>
            </a:r>
          </a:p>
        </p:txBody>
      </p:sp>
    </p:spTree>
    <p:extLst>
      <p:ext uri="{BB962C8B-B14F-4D97-AF65-F5344CB8AC3E}">
        <p14:creationId xmlns:p14="http://schemas.microsoft.com/office/powerpoint/2010/main" val="46128752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A3137D-C4BB-4B97-B889-B7DFF871E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4DF1E-5CE8-4586-B137-62F669FD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E"/>
          </a:solidFill>
          <a:ln xmlns:a="http://schemas.openxmlformats.org/drawingml/2006/main" w="0">
            <a:solidFill>
              <a:srgbClr val="1F5E9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BE74D9-8674-449D-8340-4CED2691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ПЛЮСЫ И ОГРАНИЧЕНИЯ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D6004F-A19B-4ACF-BDF4-77D419437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Главный компромисс — простота внедрения против глубины контроля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E26BE8-EB42-4C12-A464-B18D0C793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0713A8-B4EB-4615-ABC1-051B2E9CE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621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3A91A9-BD9C-4652-88DF-A868BE14B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Kaspersky Cloud / Next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2971D2-E64E-45C4-91F3-EC32936A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47875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7A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A5B"/>
                </a:solidFill>
                <a:latin typeface="Aptos"/>
                <a:ea typeface="Aptos"/>
                <a:cs typeface="Aptos"/>
              </a:rPr>
              <a:t>Плюс: быстрое облачное управление; хорошо для рабочих мест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40990B-C83F-4BDD-A9CF-96D6FBDE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47875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4A48"/>
                </a:solidFill>
                <a:latin typeface="Aptos"/>
                <a:ea typeface="Aptos"/>
                <a:cs typeface="Aptos"/>
              </a:rPr>
              <a:t>Ограничение: зависимость от облачной консоли и лицензий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EC293D-2C33-4A9D-BF2A-68DBD2F02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9597A-675D-4312-89B1-C5FE5851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21945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Dr.Web Enterprise Security Suite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C8E81E-D044-4933-B7D1-9E543854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09925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7A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A5B"/>
                </a:solidFill>
                <a:latin typeface="Aptos"/>
                <a:ea typeface="Aptos"/>
                <a:cs typeface="Aptos"/>
              </a:rPr>
              <a:t>Плюс: понятная антивирусная сеть; локальное централизованное управление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7CBEF9-CDAC-4C5B-A319-35622B6B9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09925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4A48"/>
                </a:solidFill>
                <a:latin typeface="Aptos"/>
                <a:ea typeface="Aptos"/>
                <a:cs typeface="Aptos"/>
              </a:rPr>
              <a:t>Ограничение: администрирование требует своего сервера/центра управления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E4280E-A1BF-46F5-B70C-20CE61BC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00012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FD4C3C-9433-40C2-B208-7F52A0559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81500"/>
            <a:ext cx="2667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UserGate NGFW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8E7B39-7E4C-48F6-9518-452EDD9F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371975"/>
            <a:ext cx="2952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7A5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7A5B"/>
                </a:solidFill>
                <a:latin typeface="Aptos"/>
                <a:ea typeface="Aptos"/>
                <a:cs typeface="Aptos"/>
              </a:rPr>
              <a:t>Плюс: сильная защита периметра, IPS, VPN, контроль приложений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E7D66-94BF-49FD-BE6D-D8B417556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71975"/>
            <a:ext cx="3238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B94A48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B94A48"/>
                </a:solidFill>
                <a:latin typeface="Aptos"/>
                <a:ea typeface="Aptos"/>
                <a:cs typeface="Aptos"/>
              </a:rPr>
              <a:t>Ограничение: сложнее и дороже как первый шаг для малого магазина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A795CC-2E9A-4C2B-9E66-8B5476C43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72150"/>
            <a:ext cx="9429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Для защиты это звучит просто: идеального продукта нет, поэтому выбор зависит от этапа зрелости ИБ.</a:t>
            </a:r>
          </a:p>
        </p:txBody>
      </p:sp>
    </p:spTree>
    <p:extLst>
      <p:ext uri="{BB962C8B-B14F-4D97-AF65-F5344CB8AC3E}">
        <p14:creationId xmlns:p14="http://schemas.microsoft.com/office/powerpoint/2010/main" val="125218850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4B78AF-6A91-4E54-B58B-9FE72092D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DBAAE3-69F3-4FB9-AD12-021F22EF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E"/>
          </a:solidFill>
          <a:ln xmlns:a="http://schemas.openxmlformats.org/drawingml/2006/main" w="0">
            <a:solidFill>
              <a:srgbClr val="1F5E9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2E524-6604-4C6F-AAEF-177545EEF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РЕКОМЕНДАЦИЯ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BDFDC6-3871-4E60-A328-3F3DA4462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Первый выбор — Kaspersky Cloud / Next, Dr.Web — альтернатива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CA6A7C-4A7C-418B-AE09-D78B71A61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06CDE7-BE05-4502-BF9B-25EBF3CC5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26860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AF6"/>
          </a:solidFill>
          <a:ln xmlns:a="http://schemas.openxmlformats.org/drawingml/2006/main" w="9525">
            <a:solidFill>
              <a:srgbClr val="1F5E9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393EDA-3132-4B39-976C-C8E3CCC73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381250"/>
            <a:ext cx="85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566770-F952-47E0-8F96-82D77EF38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19450"/>
            <a:ext cx="2247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Первый выбор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7995E5-21F9-4914-B50B-9CB7DBA02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33800"/>
            <a:ext cx="2247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Kaspersky Cloud / Next EDR Foundations как самый простой старт для малого интернет-магазина.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9F7FBA-5B3A-4D46-8E75-14445A98C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190750"/>
            <a:ext cx="26860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FE7"/>
          </a:solidFill>
          <a:ln xmlns:a="http://schemas.openxmlformats.org/drawingml/2006/main" w="9525">
            <a:solidFill>
              <a:srgbClr val="187A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3756F8-B6B8-49A9-B1EE-0ECA9D6C3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381250"/>
            <a:ext cx="85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187A5B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187A5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5C3024-1E44-47C3-B9BA-06FF777B2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19450"/>
            <a:ext cx="2247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Правила и резервные копии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33AD03-3184-415C-9B8C-1F3FF008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733800"/>
            <a:ext cx="2247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Закрепить пароли, 2FA, разграничение прав, обучение и проверку восстановления.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2F5505-6E79-4DC8-94A7-D01495EA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190750"/>
            <a:ext cx="2686050" cy="243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C3"/>
          </a:solidFill>
          <a:ln xmlns:a="http://schemas.openxmlformats.org/drawingml/2006/main" w="9525">
            <a:solidFill>
              <a:srgbClr val="B8871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B28535-0C97-41BD-AE15-3CD5BC2D2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81250"/>
            <a:ext cx="857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4350" b="1">
                <a:solidFill>
                  <a:srgbClr val="B8871F"/>
                </a:solidFill>
                <a:latin typeface="Aptos"/>
                <a:ea typeface="Aptos"/>
                <a:cs typeface="Aptos"/>
              </a:defRPr>
            </a:pPr>
            <a:r>
              <a:rPr sz="4350" b="1">
                <a:solidFill>
                  <a:srgbClr val="B8871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035CB4-C10C-4E98-990B-FCD356DDD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219450"/>
            <a:ext cx="22479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Второй этап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C4580D-61B8-485D-BEFB-BFB2EFAF4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733800"/>
            <a:ext cx="22479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UserGate NGFW, когда появится офис, VPN или потребность контролировать трафик.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F2A40-54EC-4B99-8D52-F0B9745B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990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Итог: Dr.Web ESS остается альтернативой, если нужен локальный/централизованный вариант; UserGate NGFW — развитие после базовой защиты.</a:t>
            </a:r>
          </a:p>
        </p:txBody>
      </p:sp>
    </p:spTree>
    <p:extLst>
      <p:ext uri="{BB962C8B-B14F-4D97-AF65-F5344CB8AC3E}">
        <p14:creationId xmlns:p14="http://schemas.microsoft.com/office/powerpoint/2010/main" val="169205898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BA4053-DDFF-46E4-B9A5-1F88270EE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CCAACD-2CC6-483A-A8A0-A0050308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E"/>
          </a:solidFill>
          <a:ln xmlns:a="http://schemas.openxmlformats.org/drawingml/2006/main" w="0">
            <a:solidFill>
              <a:srgbClr val="1F5E9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9ACFFC-F182-444C-9583-3DFF6EAC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ЗАЩИТА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B7F7E-2F22-4299-A058-4129CD84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Короткий ответ на возможный вопрос преподавателя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777E6D-62D9-4732-B991-4D701CF4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A69E63-4467-4C0F-A8B8-68871EA5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8001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Почему не выбран один «лучший» продукт?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8E3E18-BC65-41C3-B145-9D204C47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• Потому что продукты закрывают разные уровни: устройство, сеть, администрирование.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F2FFAB-F1A8-4AD6-90FD-46F0B9656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• Для малого бизнеса сначала важны рабочие станции, пароли, 2FA и резервные копии.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C48F6F-805B-4759-85D5-CBBA308B7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• UserGate NGFW полезен как развитие, когда появляется потребность контролировать весь сетевой трафик.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4E0559-0187-4C5A-9472-03936920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• Сравнение связано с КР: угрозы из работы переводятся в конкретные защитные меры.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5CD2615-13B0-4AA8-8CE6-9354AA185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9105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• Сравнение показывает порядок внедрения защиты, а не выбор одного универсального продукта.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AD1BFD-016D-42FA-9DDC-9BBD6DB2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8858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• Стоимость зависит от числа рабочих мест и лицензий, поэтому сравнивалась применимость и сложность внедрения.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4E78CA-D71F-4A06-A764-1AC81CE7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Официальные источники: kaspersky.com/small-to-medium-business-security/cloud; support.kaspersky.com/Cloud/1.0/en-us/123486.htm; products.drweb.com/enterprise_security_suite/control_center/; usergate.com/products/next-generation-firewall.</a:t>
            </a:r>
          </a:p>
        </p:txBody>
      </p:sp>
    </p:spTree>
    <p:extLst>
      <p:ext uri="{BB962C8B-B14F-4D97-AF65-F5344CB8AC3E}">
        <p14:creationId xmlns:p14="http://schemas.microsoft.com/office/powerpoint/2010/main" val="178888794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DCF460-A2A0-4245-99AE-5E8D2B0F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5D828-6897-4394-BCC5-9D668ED1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E"/>
          </a:solidFill>
          <a:ln xmlns:a="http://schemas.openxmlformats.org/drawingml/2006/main" w="0">
            <a:solidFill>
              <a:srgbClr val="1F5E9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07FBD3-2096-416C-B191-1390FF80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ОБОСНОВАНИЕ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043E9A-9009-449A-8775-3E13F3FB5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Баллы в матрице привязаны к активам и угрозам из КР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C96260-2683-48DC-994B-6D53586F4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BA0C8-90F6-493A-A9C0-AF76AFA53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21336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2C9B84-6179-46F6-93F6-4CB61EC4F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1981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Критерий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119DDF-4C44-457A-B9BC-58F14AA8A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18669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57016-F05B-424E-85F5-A296CC75D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33575"/>
            <a:ext cx="3943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Почему такой вес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A6C82-7EAB-4342-94F8-ABD15E2A2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866900"/>
            <a:ext cx="4095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0"/>
          </a:solidFill>
          <a:ln xmlns:a="http://schemas.openxmlformats.org/drawingml/2006/main" w="9525">
            <a:solidFill>
              <a:srgbClr val="11182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3E67FE-ADB2-4283-8E26-42F8AB5D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933575"/>
            <a:ext cx="39433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Почему такие баллы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787FF8-D95B-4087-A0F2-9F2E8770E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B61869-BCD3-42A7-9649-B77042C3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1981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Рабочие места · 35%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FA37F-AC01-40B9-ACAD-2BEB30731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34315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E6B33-8FC2-4911-8D8E-5BDD96A2E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409825"/>
            <a:ext cx="394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В КР это рабочие ПК, почта, CRM и документы. Большинство рисков начинается с сотрудника: фишинг, вирус, кража пароля.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811891-5A88-4DDA-8563-8C4876C7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4315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CC1415-3B65-4FBE-A338-F4ABAAFB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09825"/>
            <a:ext cx="394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Endpoint-продукты получают 5; NGFW получает 2, потому что не заменяет защиту устройства.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18A0A6-68AA-42F1-9DA0-EFA4B7CC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1F4040-DEDE-400F-936C-4E18F7AD1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28975"/>
            <a:ext cx="1981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Управление · 25%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47A78A0-9C63-4DAD-8319-925C47476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6230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58CE0-267C-4962-906B-3577D8CB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228975"/>
            <a:ext cx="394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У малого интернет-магазина нет отдельного SOC, поэтому важна простая консоль и минимум ручной настройки.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0C84B3B-E15E-4D4E-9FB7-BB2A92FAE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6230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90ACA6-C414-401E-ABF8-C526194B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28975"/>
            <a:ext cx="394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Kaspersky 5 за облачный старт; Dr.Web 3 за центр управления; UserGate 2 как более сложный сетевой продукт.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4CCE078-26B8-4F75-88E8-77C8A86D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A953DE-312E-4A99-B10D-0551E16C8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981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Риски из КР · 25%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19698ED-8728-4177-887E-0B65730A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98145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3D2F7C8-679D-4A9E-9B55-12645406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048125"/>
            <a:ext cx="394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Фишинг, вредоносное ПО, утечки, сбои и ошибки сотрудников закрываются не одним средством, а набором мер.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390B099-B3C7-4DC4-A3C9-D8C75D364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8145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60DFF19-DC6D-409D-8E70-890C32E1F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048125"/>
            <a:ext cx="394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Оценка 4 означает сопоставимый вклад, а не одинаковую функцию: Kaspersky — устройства, Dr.Web — антивирусная сеть, UserGate — периметр.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F3D26E-81FF-4448-B652-43E5B83A3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00600"/>
            <a:ext cx="21336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87B040A-29A6-4410-9F6B-D7B5706D8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67275"/>
            <a:ext cx="1981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Стоимость / сложность · 15%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1D93D65-EEF3-4C06-BEEE-26AAF7500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0060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56EBA2-27D6-46A9-A456-44E2B522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67275"/>
            <a:ext cx="394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Точные цены зависят от лицензий, поэтому оценивались ресурсы внедрения и сопровождения.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9175DE-BEC7-4114-968C-F686FACA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800600"/>
            <a:ext cx="409575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B6E9B84-C154-4A70-B565-FAF097C5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867275"/>
            <a:ext cx="39433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Kaspersky 4 как самый простой старт; Dr.Web 3; UserGate 2 как второй этап.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FAD707-7C45-493F-8086-F54424B31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91200"/>
            <a:ext cx="9810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Эта страница нужна для защиты: если спросят «почему такие оценки», ответ уже привязан к активам, угрозам и масштабу организации.</a:t>
            </a:r>
          </a:p>
        </p:txBody>
      </p:sp>
    </p:spTree>
    <p:extLst>
      <p:ext uri="{BB962C8B-B14F-4D97-AF65-F5344CB8AC3E}">
        <p14:creationId xmlns:p14="http://schemas.microsoft.com/office/powerpoint/2010/main" val="1145869459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720856-4E0F-4B40-8367-AD55FEBCE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0">
            <a:solidFill>
              <a:srgbClr val="F7F4ED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0F8586-6CB9-47D0-9718-BFD63190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23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5E9E"/>
          </a:solidFill>
          <a:ln xmlns:a="http://schemas.openxmlformats.org/drawingml/2006/main" w="0">
            <a:solidFill>
              <a:srgbClr val="1F5E9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F5C272-C5B8-42D9-8E6B-80B78C69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5275"/>
            <a:ext cx="4000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ОТВЕТ НА ЗАЩИТЕ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8611B9-013F-44AC-8E7C-9AA78E75F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42950"/>
            <a:ext cx="81915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Короткий сценарий, если преподаватель просит связать с методичкой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AD644-88A7-4E79-86B6-10708DA7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2674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E66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E667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2F819C-1203-4A47-AAFA-DF4C82DAE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9791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A0C00C-49F5-4EE3-8941-3D0B91DBB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431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Организация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AB01C2-9426-4164-9AA0-A78DA3D0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933575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ООО «ТехноМаркет» — интернет-магазин: 5-10 рабочих мест, сайт на хостинге, SOC нет.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4D7363-397E-42A9-AE1D-C76C5061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38400"/>
            <a:ext cx="9791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82912C-4684-43DC-AA8A-EA5C17237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336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Цель ИБ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89E7B-2DDF-4D06-AFE1-443FF45BD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24125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Сохранить конфиденциальность, целостность и доступность сайта, заказов и данных клиентов.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76D06E-C2CA-4907-968D-16E82815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28950"/>
            <a:ext cx="9791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1D029-5164-473B-9AA0-2AF21C9A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242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Объекты ИБ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FEEEF8-697E-471D-BF5A-9013DFE9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114675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Сайт, CRM/заказы, база клиентов, почта, рабочие компьютеры.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60353F-2F27-4E1C-AABD-944595218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9791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8F0EB-5970-48FA-ADA8-B6B93B510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147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Источники угроз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021E94-A5E6-4A29-A292-560A7B15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705225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Мошенники, вредоносное ПО, ошибки сотрудников, кража учетных данных, сбои CMS/хостинга.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042E37-7AA8-4A16-8F4B-817EE50B3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9791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3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31BD9D-1FD1-4B6E-9C2E-9401ACC74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0530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Средства защиты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0A36FA-40C1-46FE-9BE5-6BDE02C69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295775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Endpoint-защита, 2FA, права доступа, резервные копии, обновления сайта.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3F4955-89D1-44EC-901D-27A47BB46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97917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A8F54B-B30E-4FE6-9E4D-3402E888C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95850"/>
            <a:ext cx="200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F5E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F5E9E"/>
                </a:solidFill>
                <a:latin typeface="Aptos"/>
                <a:ea typeface="Aptos"/>
                <a:cs typeface="Aptos"/>
              </a:rPr>
              <a:t>Улучшение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34F309-AE2F-4ED3-9AEB-C73D5B7E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886325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95250" tIns="66675" rIns="95250" bIns="66675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Kaspersky Cloud / Next — старт; Dr.Web — альтернатива; UserGate — второй этап для периметра.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CF493E-6E89-422F-AF7C-6BC4E8534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38800"/>
            <a:ext cx="9525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Главная фраза: сравнение показывает не «лучший продукт вообще», а самый простой порядок внедрения защиты для малого бизнеса.</a:t>
            </a:r>
          </a:p>
        </p:txBody>
      </p:sp>
    </p:spTree>
    <p:extLst>
      <p:ext uri="{BB962C8B-B14F-4D97-AF65-F5344CB8AC3E}">
        <p14:creationId xmlns:p14="http://schemas.microsoft.com/office/powerpoint/2010/main" val="18639527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2026-05-24T17:40:41.0730000Z</dcterms:created>
  <dcterms:modified xsi:type="dcterms:W3CDTF">2026-05-24T17:40:41.0730000Z</dcterms:modified>
</coreProperties>
</file>