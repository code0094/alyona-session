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24712"/>
            <a:ext cx="10360152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3B1E5E"/>
                </a:solidFill>
                <a:latin typeface="Roboto Slab"/>
              </a:rPr>
              <a:t>Система электронного</a:t>
            </a:r>
          </a:p>
          <a:p>
            <a:pPr algn="ctr"/>
            <a:r>
              <a:rPr sz="4400" b="1">
                <a:solidFill>
                  <a:srgbClr val="3B1E5E"/>
                </a:solidFill>
                <a:latin typeface="Roboto Slab"/>
              </a:rPr>
              <a:t>документооборота Directum RX</a:t>
            </a:r>
          </a:p>
        </p:txBody>
      </p:sp>
      <p:sp>
        <p:nvSpPr>
          <p:cNvPr id="3" name="Rectangle 2"/>
          <p:cNvSpPr/>
          <p:nvPr/>
        </p:nvSpPr>
        <p:spPr>
          <a:xfrm>
            <a:off x="5175504" y="1371600"/>
            <a:ext cx="1828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02736"/>
            <a:ext cx="10360152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 err="1">
                <a:solidFill>
                  <a:srgbClr val="3B1E5E"/>
                </a:solidFill>
                <a:latin typeface="Roboto"/>
              </a:rPr>
              <a:t>Современная</a:t>
            </a:r>
            <a:r>
              <a:rPr sz="2000" b="0" dirty="0">
                <a:solidFill>
                  <a:srgbClr val="3B1E5E"/>
                </a:solidFill>
                <a:latin typeface="Roboto"/>
              </a:rPr>
              <a:t> СЭД </a:t>
            </a:r>
            <a:r>
              <a:rPr sz="2000" b="0" dirty="0" err="1">
                <a:solidFill>
                  <a:srgbClr val="3B1E5E"/>
                </a:solidFill>
                <a:latin typeface="Roboto"/>
              </a:rPr>
              <a:t>для</a:t>
            </a:r>
            <a:r>
              <a:rPr sz="2000" b="0" dirty="0">
                <a:solidFill>
                  <a:srgbClr val="3B1E5E"/>
                </a:solidFill>
                <a:latin typeface="Roboto"/>
              </a:rPr>
              <a:t> </a:t>
            </a:r>
            <a:r>
              <a:rPr sz="2000" b="0" dirty="0" err="1">
                <a:solidFill>
                  <a:srgbClr val="3B1E5E"/>
                </a:solidFill>
                <a:latin typeface="Roboto"/>
              </a:rPr>
              <a:t>российского</a:t>
            </a:r>
            <a:r>
              <a:rPr sz="2000" b="0" dirty="0">
                <a:solidFill>
                  <a:srgbClr val="3B1E5E"/>
                </a:solidFill>
                <a:latin typeface="Roboto"/>
              </a:rPr>
              <a:t> </a:t>
            </a:r>
            <a:r>
              <a:rPr sz="2000" b="0" dirty="0" err="1">
                <a:solidFill>
                  <a:srgbClr val="3B1E5E"/>
                </a:solidFill>
                <a:latin typeface="Roboto"/>
              </a:rPr>
              <a:t>бизнеса</a:t>
            </a:r>
            <a:endParaRPr sz="2000" b="0" dirty="0">
              <a:solidFill>
                <a:srgbClr val="3B1E5E"/>
              </a:solidFill>
              <a:latin typeface="Roboto"/>
            </a:endParaRPr>
          </a:p>
          <a:p>
            <a:pPr algn="ctr">
              <a:spcBef>
                <a:spcPts val="1200"/>
              </a:spcBef>
            </a:pPr>
            <a:r>
              <a:rPr sz="1600" b="0" dirty="0" err="1">
                <a:solidFill>
                  <a:srgbClr val="475569"/>
                </a:solidFill>
                <a:latin typeface="Roboto"/>
              </a:rPr>
              <a:t>Выполнила</a:t>
            </a:r>
            <a:r>
              <a:rPr sz="1600" b="0" dirty="0">
                <a:solidFill>
                  <a:srgbClr val="475569"/>
                </a:solidFill>
                <a:latin typeface="Roboto"/>
              </a:rPr>
              <a:t>: </a:t>
            </a:r>
            <a:r>
              <a:rPr lang="ru-RU" sz="1600" dirty="0">
                <a:solidFill>
                  <a:srgbClr val="475569"/>
                </a:solidFill>
                <a:latin typeface="Roboto"/>
              </a:rPr>
              <a:t>Токарева Алена Дмитриевна</a:t>
            </a:r>
            <a:r>
              <a:rPr sz="1600" b="0" dirty="0">
                <a:solidFill>
                  <a:srgbClr val="475569"/>
                </a:solidFill>
                <a:latin typeface="Roboto"/>
              </a:rPr>
              <a:t>, </a:t>
            </a:r>
            <a:r>
              <a:rPr sz="1600" b="0" dirty="0" err="1">
                <a:solidFill>
                  <a:srgbClr val="475569"/>
                </a:solidFill>
                <a:latin typeface="Roboto"/>
              </a:rPr>
              <a:t>группа</a:t>
            </a:r>
            <a:r>
              <a:rPr lang="en-US" sz="1600" b="0" dirty="0">
                <a:solidFill>
                  <a:srgbClr val="475569"/>
                </a:solidFill>
                <a:latin typeface="Roboto"/>
              </a:rPr>
              <a:t> 3523</a:t>
            </a:r>
            <a:r>
              <a:rPr lang="ru-RU" sz="1600" dirty="0">
                <a:solidFill>
                  <a:srgbClr val="475569"/>
                </a:solidFill>
                <a:latin typeface="Roboto"/>
              </a:rPr>
              <a:t>Б3ПИ1</a:t>
            </a:r>
            <a:endParaRPr sz="1600" b="0" dirty="0">
              <a:solidFill>
                <a:srgbClr val="475569"/>
              </a:solidFill>
              <a:latin typeface="Robo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9352" y="4489704"/>
            <a:ext cx="4261104" cy="18288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Содержание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01.  Понятие СЭД и её задачи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02.  Преимущества внедрения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03.  Общие сведения о Directum RX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04.  Архитектура и платформы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05.  Основные функции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06.  Интеллектуальные сервисы Ario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07.  Варианты поставки и тарифы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08.  Безопасность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09.  Примеры внедрения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10.  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Что такое СЭД?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B1E5E"/>
                </a:solidFill>
                <a:latin typeface="Roboto"/>
              </a:rPr>
              <a:t>Определение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530"/>
                </a:solidFill>
                <a:latin typeface="Roboto"/>
              </a:rPr>
              <a:t>Система электронного документооборота (СЭД) — программный комплекс для автоматизации работы с электронными документами на всём жизненном цикле: от создания до архивного хранения.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3B1E5E"/>
                </a:solidFill>
                <a:latin typeface="Roboto"/>
              </a:rPr>
              <a:t>Основные задачи СЭД: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создание, согласование и подписание документов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регистрация, маршрутизация и контроль исполнения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хранение и поиск, разграничение прав доступа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обеспечение юридической значимости электронной подписью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Преимущества внедрения СЭД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Ускорение бизнес-процессов — сокращение времени согласования и подписания документов в 3–5 раз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Снижение затрат — экономия на бумаге, печати, доставке и хранении документов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Прозрачность и контроль — отслеживание статуса документов и истории всех действий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Безопасность данных — разграничение прав доступа, защита от потери и несанкционированного использования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Удалённая работа — доступ к документам из любой точки через веб и мобильные приложения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Directum RX — общие сведения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Разработчик: ООО «ДИРЕКТУМ» (Россия)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Тип системы: ECM/СЭД с искусственным интеллектом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Аудитория: средний и крупный бизнес, госсектор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Реестр отечественного ПО: включена, подтверждённая импортонезависимость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Распространение: более 3 500 компаний, до 50 000 пользователей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AC09-BF06-9FED-F78E-258AC917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2192AA-C726-AD3A-1D8B-ED799CB3F694}"/>
              </a:ext>
            </a:extLst>
          </p:cNvPr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F5F41-8246-4919-6A2B-9655E6DD7510}"/>
              </a:ext>
            </a:extLst>
          </p:cNvPr>
          <p:cNvSpPr txBox="1"/>
          <p:nvPr/>
        </p:nvSpPr>
        <p:spPr>
          <a:xfrm>
            <a:off x="841248" y="365760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dirty="0" err="1">
                <a:solidFill>
                  <a:srgbClr val="3B1E5E"/>
                </a:solidFill>
                <a:latin typeface="Roboto Slab"/>
              </a:rPr>
              <a:t>Directum</a:t>
            </a:r>
            <a:r>
              <a:rPr sz="3200" b="1" dirty="0">
                <a:solidFill>
                  <a:srgbClr val="3B1E5E"/>
                </a:solidFill>
                <a:latin typeface="Roboto Slab"/>
              </a:rPr>
              <a:t> RX — </a:t>
            </a:r>
            <a:r>
              <a:rPr lang="ru-RU" sz="3200" b="1" dirty="0">
                <a:solidFill>
                  <a:srgbClr val="3B1E5E"/>
                </a:solidFill>
                <a:latin typeface="Roboto Slab"/>
              </a:rPr>
              <a:t>скриншот из Реестра ПО</a:t>
            </a:r>
            <a:endParaRPr sz="3200" b="1" dirty="0">
              <a:solidFill>
                <a:srgbClr val="3B1E5E"/>
              </a:solidFill>
              <a:latin typeface="Roboto Slab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E4FD63-493D-8ECA-42C3-4AC188D07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33" y="1705454"/>
            <a:ext cx="9719733" cy="478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6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Архитектура и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Микросервисная архитектура — гибкая, масштабируемая, легко настраиваемая экосистема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Веб-клиент — полная работа с документами и задачами через браузер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Мобильные приложения — Directum Solo и Jazz для iOS и Android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Кроссплатформенность — поддержка Windows, Linux и macOS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Интеграция — связь с 1С, ERP-системами, сервисами ЭДО (Synerdocs, Диадок)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Основные функции Directum 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Управление документами — полный цикл, от создания и согласования до архивирования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Управление процессами — маршруты согласования, поручения, контроль исполнения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Делопроизводство — регистрация, рассмотрение корреспонденции, контроль исполнения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Договоры — шаблоны, согласование, подписание ЭП, реестр обязательств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Обмен с контрагентами — юридически значимый ЭДО через Synerdocs и Диадок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Кадровые процессы (КЭДО) — приём, отпуска, командировки, удалённое подписание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Интеллектуальные сервисы Directum 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Компьютерное зрение — распознавание сканов и фотографий документов (OCR)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Машинное обучение — автоматическая классификация документов по типам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Извлечение реквизитов — автозаполнение карточек документов из текста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Сравнение версий — поиск различий между редакциями договоров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Поиск рисков — выявление проблемных условий в текстах договоров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Варианты поставки и тарифы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507492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B1E5E"/>
                </a:solidFill>
                <a:latin typeface="Roboto"/>
              </a:rPr>
              <a:t>Локальная (On-Premise)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Установка на серверах заказчика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Полный контроль данных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Тарифы: Basic, Enterprise, Intelligence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Подходит для крупных компаний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2784" y="1828800"/>
            <a:ext cx="507492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B1E5E"/>
                </a:solidFill>
                <a:latin typeface="Roboto"/>
              </a:rPr>
              <a:t>Облачная (SaaS)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Размещение в ЦОД на территории РФ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Быстрый старт, без капвложений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Тарифы: RX100 (до 200), DRX200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Подходит для среднего и малого бизнеса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Безопасность и соответствие законодательству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Электронная подпись — ПЭП и УКЭП, регламентируется 63-ФЗ «Об электронной подписи»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Криптография — поддержка ГОСТ Р 34.10-2012; лицензия ФСБ России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Персональные данные — соответствие 152-ФЗ «О персональных данных»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Коммерческая тайна — соответствие 98-ФЗ «О коммерческой тайне»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Контроль доступа — гибкая настройка прав, аудит действий, история работы с документами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Примеры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Росбанк — интеллектуальное распознавание документов от госорганов и клиентов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Группа компаний «Эталон» — переход на единую корпоративную СЭД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ESTEL — кадровый электронный документооборот (КЭДО)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АО «Роскартография» — автоматизация делопроизводства и согласований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ОДК — интеллектуальная обработка входящей корреспонденции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1F1530"/>
                </a:solidFill>
                <a:latin typeface="Roboto"/>
              </a:rPr>
              <a:t>Правительства регионов РФ — Тюменская, Омская, Курганская, Владимирская области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16736"/>
            <a:ext cx="685800" cy="38404"/>
          </a:xfrm>
          <a:prstGeom prst="rect">
            <a:avLst/>
          </a:prstGeom>
          <a:solidFill>
            <a:srgbClr val="3B1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>
                <a:solidFill>
                  <a:srgbClr val="3B1E5E"/>
                </a:solidFill>
                <a:latin typeface="Roboto Slab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352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B1E5E"/>
                </a:solidFill>
                <a:latin typeface="Roboto"/>
              </a:rPr>
              <a:t>Универсальное решение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530"/>
                </a:solidFill>
                <a:latin typeface="Roboto"/>
              </a:rPr>
              <a:t>Directum RX закрывает весь цикл документооборота — от создания документа до архива.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3B1E5E"/>
                </a:solidFill>
                <a:latin typeface="Roboto"/>
              </a:rPr>
              <a:t>Российская разработка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530"/>
                </a:solidFill>
                <a:latin typeface="Roboto"/>
              </a:rPr>
              <a:t>Полное соответствие законодательству РФ и независимость от зарубежного ПО.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3B1E5E"/>
                </a:solidFill>
                <a:latin typeface="Roboto"/>
              </a:rPr>
              <a:t>Интеллектуальные сервисы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530"/>
                </a:solidFill>
                <a:latin typeface="Roboto"/>
              </a:rPr>
              <a:t>ИИ Directum Ario автоматизирует рутинные операции и снижает нагрузку на сотрудников.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3B1E5E"/>
                </a:solidFill>
                <a:latin typeface="Roboto"/>
              </a:rPr>
              <a:t>Гибкость поставки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530"/>
                </a:solidFill>
                <a:latin typeface="Roboto"/>
              </a:rPr>
              <a:t>Облачные и локальные варианты подходят бизнесу любого масштаба — от 50 до 50 000 пользователей.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530"/>
                </a:solidFill>
                <a:latin typeface="Roboto"/>
              </a:rPr>
              <a:t>Источники: directum.ru, ru.wikipedia.org/wiki/Directum, tadviser.ru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679</Words>
  <Application>Microsoft Office PowerPoint</Application>
  <PresentationFormat>Широкоэкранный</PresentationFormat>
  <Paragraphs>89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Roboto</vt:lpstr>
      <vt:lpstr>Roboto Slab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Роман Ершов</cp:lastModifiedBy>
  <cp:revision>3</cp:revision>
  <dcterms:created xsi:type="dcterms:W3CDTF">2013-01-27T09:14:16Z</dcterms:created>
  <dcterms:modified xsi:type="dcterms:W3CDTF">2026-05-24T11:48:20Z</dcterms:modified>
  <cp:category/>
</cp:coreProperties>
</file>